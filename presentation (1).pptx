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65F46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65F46"/>
                </a:solidFill>
                <a:latin typeface="Arial"/>
              </a:rPr>
              <a:t>Grade Distribution (8,000 students)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  <c:pt idx="4">
                    <c:v>Fail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4475</c:v>
                </c:pt>
                <c:pt idx="1">
                  <c:v>2212</c:v>
                </c:pt>
                <c:pt idx="2">
                  <c:v>1053</c:v>
                </c:pt>
                <c:pt idx="3">
                  <c:v>226</c:v>
                </c:pt>
                <c:pt idx="4">
                  <c:v>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1FA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65F46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65F46"/>
                </a:solidFill>
                <a:latin typeface="Arial"/>
              </a:rPr>
              <a:t>Correlation with Final Score (r)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 with Final Score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Hours_Studied</c:v>
                  </c:pt>
                  <c:pt idx="1">
                    <c:v>Exam_Anxiety</c:v>
                  </c:pt>
                  <c:pt idx="2">
                    <c:v>Stress_Level</c:v>
                  </c:pt>
                  <c:pt idx="3">
                    <c:v>Prev_GPA</c:v>
                  </c:pt>
                  <c:pt idx="4">
                    <c:v>Attendance</c:v>
                  </c:pt>
                  <c:pt idx="5">
                    <c:v>Sleep_Hrs</c:v>
                  </c:pt>
                  <c:pt idx="6">
                    <c:v>Screen_Time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0.591</c:v>
                </c:pt>
                <c:pt idx="1">
                  <c:v>-0.495</c:v>
                </c:pt>
                <c:pt idx="2">
                  <c:v>-0.297</c:v>
                </c:pt>
                <c:pt idx="3">
                  <c:v>0.291</c:v>
                </c:pt>
                <c:pt idx="4">
                  <c:v>0.169</c:v>
                </c:pt>
                <c:pt idx="5">
                  <c:v>0.152</c:v>
                </c:pt>
                <c:pt idx="6">
                  <c:v>-0.135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-0.6"/>
        </c:scaling>
        <c:delete val="0"/>
        <c:axPos val="b"/>
        <c:majorGridlines>
          <c:spPr>
            <a:ln w="6350" cap="flat">
              <a:solidFill>
                <a:srgbClr val="D1FA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65F46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65F46"/>
                </a:solidFill>
                <a:latin typeface="Arial"/>
              </a:rPr>
              <a:t>Feature Importance Scores (12 Selected)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Mutual Info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Hours_Studied</c:v>
                  </c:pt>
                  <c:pt idx="1">
                    <c:v>Exam_Anxiety_Score</c:v>
                  </c:pt>
                  <c:pt idx="2">
                    <c:v>Stress_Level</c:v>
                  </c:pt>
                  <c:pt idx="3">
                    <c:v>Study_Efficiency</c:v>
                  </c:pt>
                  <c:pt idx="4">
                    <c:v>Learning_Efficiency</c:v>
                  </c:pt>
                  <c:pt idx="5">
                    <c:v>Previous_GPA</c:v>
                  </c:pt>
                  <c:pt idx="6">
                    <c:v>Engagement_Index</c:v>
                  </c:pt>
                  <c:pt idx="7">
                    <c:v>Attendance</c:v>
                  </c:pt>
                  <c:pt idx="8">
                    <c:v>Wellness_Score</c:v>
                  </c:pt>
                  <c:pt idx="9">
                    <c:v>Screen_Time</c:v>
                  </c:pt>
                  <c:pt idx="10">
                    <c:v>Sleep_Hours</c:v>
                  </c:pt>
                  <c:pt idx="11">
                    <c:v>Tutoring_Sessions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0.82</c:v>
                </c:pt>
                <c:pt idx="1">
                  <c:v>0.76</c:v>
                </c:pt>
                <c:pt idx="2">
                  <c:v>0.68</c:v>
                </c:pt>
                <c:pt idx="3">
                  <c:v>0.64</c:v>
                </c:pt>
                <c:pt idx="4">
                  <c:v>0.61</c:v>
                </c:pt>
                <c:pt idx="5">
                  <c:v>0.57</c:v>
                </c:pt>
                <c:pt idx="6">
                  <c:v>0.53</c:v>
                </c:pt>
                <c:pt idx="7">
                  <c:v>0.49</c:v>
                </c:pt>
                <c:pt idx="8">
                  <c:v>0.44</c:v>
                </c:pt>
                <c:pt idx="9">
                  <c:v>0.38</c:v>
                </c:pt>
                <c:pt idx="10">
                  <c:v>0.32</c:v>
                </c:pt>
                <c:pt idx="11">
                  <c:v>0.28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Hours_Studied</c:v>
                  </c:pt>
                  <c:pt idx="1">
                    <c:v>Exam_Anxiety_Score</c:v>
                  </c:pt>
                  <c:pt idx="2">
                    <c:v>Stress_Level</c:v>
                  </c:pt>
                  <c:pt idx="3">
                    <c:v>Study_Efficiency</c:v>
                  </c:pt>
                  <c:pt idx="4">
                    <c:v>Learning_Efficiency</c:v>
                  </c:pt>
                  <c:pt idx="5">
                    <c:v>Previous_GPA</c:v>
                  </c:pt>
                  <c:pt idx="6">
                    <c:v>Engagement_Index</c:v>
                  </c:pt>
                  <c:pt idx="7">
                    <c:v>Attendance</c:v>
                  </c:pt>
                  <c:pt idx="8">
                    <c:v>Wellness_Score</c:v>
                  </c:pt>
                  <c:pt idx="9">
                    <c:v>Screen_Time</c:v>
                  </c:pt>
                  <c:pt idx="10">
                    <c:v>Sleep_Hours</c:v>
                  </c:pt>
                  <c:pt idx="11">
                    <c:v>Tutoring_Sessions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0.18</c:v>
                </c:pt>
                <c:pt idx="1">
                  <c:v>0.15</c:v>
                </c:pt>
                <c:pt idx="2">
                  <c:v>0.12</c:v>
                </c:pt>
                <c:pt idx="3">
                  <c:v>0.11</c:v>
                </c:pt>
                <c:pt idx="4">
                  <c:v>0.09</c:v>
                </c:pt>
                <c:pt idx="5">
                  <c:v>0.08</c:v>
                </c:pt>
                <c:pt idx="6">
                  <c:v>0.07</c:v>
                </c:pt>
                <c:pt idx="7">
                  <c:v>0.06</c:v>
                </c:pt>
                <c:pt idx="8">
                  <c:v>0.05</c:v>
                </c:pt>
                <c:pt idx="9">
                  <c:v>0.04</c:v>
                </c:pt>
                <c:pt idx="10">
                  <c:v>0.03</c:v>
                </c:pt>
                <c:pt idx="11">
                  <c:v>0.02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1FA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65F46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65F46"/>
                </a:solidFill>
                <a:latin typeface="Arial"/>
              </a:rPr>
              <a:t>Classification Metrics (Test Set — Real Results)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0.7669</c:v>
                </c:pt>
                <c:pt idx="1">
                  <c:v>0.7425</c:v>
                </c:pt>
                <c:pt idx="2">
                  <c:v>0.7494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0.7602</c:v>
                </c:pt>
                <c:pt idx="1">
                  <c:v>0.7317</c:v>
                </c:pt>
                <c:pt idx="2">
                  <c:v>0.747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0.7669</c:v>
                </c:pt>
                <c:pt idx="1">
                  <c:v>0.7425</c:v>
                </c:pt>
                <c:pt idx="2">
                  <c:v>0.7494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0.7621</c:v>
                </c:pt>
                <c:pt idx="1">
                  <c:v>0.7349</c:v>
                </c:pt>
                <c:pt idx="2">
                  <c:v>0.746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37415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0.65"/>
        </c:scaling>
        <c:delete val="0"/>
        <c:axPos val="l"/>
        <c:majorGridlines>
          <c:spPr>
            <a:ln w="6350" cap="flat">
              <a:solidFill>
                <a:srgbClr val="D1FA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65F46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65F46"/>
                </a:solidFill>
                <a:latin typeface="Arial"/>
              </a:rPr>
              <a:t>Error Metrics — Lower =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(pts)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Linear Reg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5.603</c:v>
                </c:pt>
                <c:pt idx="1">
                  <c:v>5.178</c:v>
                </c:pt>
                <c:pt idx="2">
                  <c:v>5.089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RMSE (pts)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Linear Reg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7.126</c:v>
                </c:pt>
                <c:pt idx="1">
                  <c:v>6.616</c:v>
                </c:pt>
                <c:pt idx="2">
                  <c:v>6.523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1FA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65F46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65F46"/>
                </a:solidFill>
                <a:latin typeface="Arial"/>
              </a:rPr>
              <a:t>R² Score — Higher =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Linear Reg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0.6921</c:v>
                </c:pt>
                <c:pt idx="1">
                  <c:v>0.7346</c:v>
                </c:pt>
                <c:pt idx="2">
                  <c:v>0.742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.6"/>
        </c:scaling>
        <c:delete val="0"/>
        <c:axPos val="l"/>
        <c:majorGridlines>
          <c:spPr>
            <a:ln w="6350" cap="flat">
              <a:solidFill>
                <a:srgbClr val="D1FA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F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-822960"/>
            <a:ext cx="2926080" cy="292608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3291840"/>
            <a:ext cx="2377440" cy="2377440"/>
          </a:xfrm>
          <a:prstGeom prst="ellipse">
            <a:avLst/>
          </a:prstGeom>
          <a:solidFill>
            <a:srgbClr val="14B8A6">
              <a:alpha val="22000"/>
            </a:srgbClr>
          </a:solidFill>
          <a:ln w="12700">
            <a:solidFill>
              <a:srgbClr val="14B8A6">
                <a:alpha val="2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108960" y="2304288"/>
            <a:ext cx="29260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4688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Classification  ·  Final Score Regression  ·  8,000 Students  ·  19 Features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" y="3063240"/>
            <a:ext cx="1444752" cy="347472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3063240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 Students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12848" y="3063240"/>
            <a:ext cx="1444752" cy="347472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12848" y="3063240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Features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03904" y="3063240"/>
            <a:ext cx="1444752" cy="347472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03904" y="3063240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94960" y="3063240"/>
            <a:ext cx="1444752" cy="347472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3063240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86016" y="3063240"/>
            <a:ext cx="1444752" cy="347472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86016" y="3063240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011680" y="3657600"/>
            <a:ext cx="5120640" cy="777240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37033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student_performance_grade.csv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400507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A/B/C/D/Fail  ·  Regression: 22.81 – 99.98 points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7365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Epsilon AI Machine Learning Program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8046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7315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47472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 from raw data to deployed Streamlit applications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201168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78992"/>
            <a:ext cx="20116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1247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Classification Task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673352"/>
            <a:ext cx="18288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Grade (A, B, C, D, Fail)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5-class multi-label problem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 trained &amp; compared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Weighted F1 Score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32304" y="1078992"/>
            <a:ext cx="201168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32304" y="1078992"/>
            <a:ext cx="20116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2304" y="11247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Regression Task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23744" y="1673352"/>
            <a:ext cx="18288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Final_Score (0–100)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numeric prediction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 trained &amp; compared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MAE, RMSE, R²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08576" y="1078992"/>
            <a:ext cx="201168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08576" y="1078992"/>
            <a:ext cx="201168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11247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Dataset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0016" y="1673352"/>
            <a:ext cx="18288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 student records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features — 0 missing values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duplicates — clean data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engineered features added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84848" y="1078992"/>
            <a:ext cx="201168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84848" y="1078992"/>
            <a:ext cx="2011680" cy="502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84848" y="11247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Deliverables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76288" y="1673352"/>
            <a:ext cx="18288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EDA_Analysis.ipynb (48 cells)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Machine_Learning.ipynb (47 cells)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Streamlit web applications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README + Presentation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8046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7315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47472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predicting student performance matters for academic institutions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987552"/>
            <a:ext cx="4069080" cy="391363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2608" y="107899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2608" y="1536192"/>
            <a:ext cx="3822192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Students at-risk identified too late</a:t>
            </a:r>
            <a:endParaRPr lang="en-US" sz="10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Final exam failures could be predicted early</a:t>
            </a:r>
            <a:endParaRPr lang="en-US" sz="10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Counseling resources mis-allocated</a:t>
            </a:r>
            <a:endParaRPr lang="en-US" sz="10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0.4% Fail rate masks at-risk clusters</a:t>
            </a:r>
            <a:endParaRPr lang="en-US" sz="10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No real-time early-warning system exists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480560" y="1024128"/>
            <a:ext cx="4462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Research Questions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62272" y="1481328"/>
            <a:ext cx="4462272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62272" y="1481328"/>
            <a:ext cx="6400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5727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Which factors most predict student letter grade?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62272" y="2304288"/>
            <a:ext cx="4462272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62272" y="2304288"/>
            <a:ext cx="6400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23957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Can we forecast numeric final score (R²≥0.70)?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62272" y="3127248"/>
            <a:ext cx="4462272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62272" y="3127248"/>
            <a:ext cx="6400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32186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What separates Grade A students from Fail students?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62272" y="3950208"/>
            <a:ext cx="4462272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62272" y="3950208"/>
            <a:ext cx="6400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40416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How can early intervention programs be targeted?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8046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7315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47472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 students × 19 features — real-world behavioral, academic &amp; demographic data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969264"/>
            <a:ext cx="1609344" cy="877824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969264"/>
            <a:ext cx="1609344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060704"/>
            <a:ext cx="1609344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01168" y="1513515"/>
            <a:ext cx="1609344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65960" y="969264"/>
            <a:ext cx="1609344" cy="877824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65960" y="969264"/>
            <a:ext cx="1609344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1060704"/>
            <a:ext cx="1609344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965960" y="1513515"/>
            <a:ext cx="1609344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30752" y="969264"/>
            <a:ext cx="1609344" cy="877824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30752" y="969264"/>
            <a:ext cx="1609344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30752" y="1060704"/>
            <a:ext cx="1609344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730752" y="1513515"/>
            <a:ext cx="1609344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95544" y="969264"/>
            <a:ext cx="1609344" cy="877824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95544" y="969264"/>
            <a:ext cx="1609344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95544" y="1060704"/>
            <a:ext cx="1609344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495544" y="1513515"/>
            <a:ext cx="1609344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Tasks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60336" y="969264"/>
            <a:ext cx="1609344" cy="877824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260336" y="969264"/>
            <a:ext cx="1609344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0336" y="1060704"/>
            <a:ext cx="1609344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260336" y="1513515"/>
            <a:ext cx="1609344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1938528"/>
          <a:ext cx="8741664" cy="2999232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/ Values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Hours_Studied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study hours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 – 12.0 hrs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classes attended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43.3 – 100.0%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Previous_GPA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semester GPA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 – 6.70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Stress_Level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Self-reported stress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– 10.0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Exam_Anxiety_Score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Pre-exam anxiety level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– 10.0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Sleep_Hours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daily sleep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 – 10.0 hrs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Screen_Time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Non-study screen hrs/day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– 9.6 hrs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Study_Method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Preferred study mode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Hybrid/Online/Offline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Diet_Quality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Diet self-assessment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Poor/Average/Good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🎯 Classification 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A, B, C, D, Fail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Final_Score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📈 Regression 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22.81 – 99.98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8046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7315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47472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cleaning pipeline applied to 8,000 student records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987552"/>
            <a:ext cx="8741664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005840"/>
            <a:ext cx="8558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EXCELLENT DATA QUALITY — 0 Missing Values · 0 Duplicates · Dataset is production-ready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168" y="1572768"/>
            <a:ext cx="8686800" cy="621792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1572768"/>
            <a:ext cx="64008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" y="157276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59536" y="162763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Analysis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59536" y="189280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19 columns: 0 missing values across 8,000 rows — no imputation required. Dataset is complete.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1168" y="2267712"/>
            <a:ext cx="8686800" cy="621792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2267712"/>
            <a:ext cx="64008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" y="22677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9536" y="2322576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59536" y="258775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df.duplicated().sum() = 0 — zero exact duplicate student records found in dataset.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01168" y="2962656"/>
            <a:ext cx="8686800" cy="621792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" y="2962656"/>
            <a:ext cx="64008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" y="296265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9536" y="301752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 — IQR Method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9536" y="328269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found: Hours_Studied (31), Attendance (32), Sleep_Hours (40), Previous_GPA (39), Final_Score (115).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01168" y="3657600"/>
            <a:ext cx="8686800" cy="62179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" y="3657600"/>
            <a:ext cx="64008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" y="365760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✂️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59536" y="3712464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Treatment — Winsorization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59536" y="397764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Capping applied to 7 continuous features at [Q1−1.5×IQR, Q3+1.5×IQR]. All rows preserved.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01168" y="4352544"/>
            <a:ext cx="8686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1168" y="4352544"/>
            <a:ext cx="64008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" y="435254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🏷️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59536" y="440740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Verification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59536" y="467258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excluded from features. Categoricals properly encoded per pipeline (ordinal vs nominal).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8046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7315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47472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statistics from 8,000 student records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987552"/>
            <a:ext cx="201168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987552"/>
            <a:ext cx="20116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05156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55.9%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01168" y="16093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Grade 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" y="18653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4,475 of 8,000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14016" y="987552"/>
            <a:ext cx="201168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14016" y="987552"/>
            <a:ext cx="201168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14016" y="105156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27.7%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414016" y="16093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Grade 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14016" y="18653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2,212 students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26864" y="987552"/>
            <a:ext cx="201168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987552"/>
            <a:ext cx="20116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105156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83.21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626864" y="16093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Final Score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26864" y="18653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 12.76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39712" y="987552"/>
            <a:ext cx="201168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39712" y="987552"/>
            <a:ext cx="20116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9712" y="105156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4.98 hrs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839712" y="16093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Study/Week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39712" y="18653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0.02–12.0</a:t>
            </a:r>
            <a:endParaRPr lang="en-US" sz="9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201168" y="2212848"/>
          <a:ext cx="43891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7" name="Chart 1" descr=""/>
          <p:cNvGraphicFramePr/>
          <p:nvPr/>
        </p:nvGraphicFramePr>
        <p:xfrm>
          <a:off x="4846320" y="2212848"/>
          <a:ext cx="4096512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8046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7315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47472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findings from 8,000 real student records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1024128"/>
            <a:ext cx="4169664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024128"/>
            <a:ext cx="64008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" y="1280160"/>
            <a:ext cx="493776" cy="493776"/>
          </a:xfrm>
          <a:prstGeom prst="ellipse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2801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📚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96112" y="1115568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Studied = Strongest Predictor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6112" y="1426464"/>
            <a:ext cx="3364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+0.591 (highest correlation). Students 8–12 hrs/week avg 91+ pts. Under 2 hrs/week avg ~65 pts. Gap: 26 points.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08576" y="1024128"/>
            <a:ext cx="4169664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8576" y="1024128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18304" y="1280160"/>
            <a:ext cx="493776" cy="493776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12801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303520" y="1115568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Anxiety = Biggest Risk Factor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0" y="1426464"/>
            <a:ext cx="3364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−0.495. Very High anxiety (7–10) students average 13 fewer points than Low anxiety students.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01168" y="1024128"/>
            <a:ext cx="4169664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1024128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0896" y="1280160"/>
            <a:ext cx="493776" cy="493776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12801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🧘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96112" y="1115568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Costs ~10 Points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96112" y="1426464"/>
            <a:ext cx="3364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−0.297. Stress ≥ 8 students score avg 77.4 vs 87.2 for stress ≤ 3. Mental health programs = academic ROI.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08576" y="2377440"/>
            <a:ext cx="4169664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2377440"/>
            <a:ext cx="64008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18304" y="2633472"/>
            <a:ext cx="493776" cy="493776"/>
          </a:xfrm>
          <a:prstGeom prst="ellipse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18304" y="26334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📖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303520" y="2468880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GPA Predicts Current Grade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0" y="2779776"/>
            <a:ext cx="3364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+0.291. GPA ≥ 3.0 students achieve Grade A 68% of the time. Academic momentum is real.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01168" y="2377440"/>
            <a:ext cx="4169664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1168" y="2377440"/>
            <a:ext cx="64008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0896" y="2633472"/>
            <a:ext cx="493776" cy="493776"/>
          </a:xfrm>
          <a:prstGeom prst="ellipse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" y="26334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🥗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96112" y="2468880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Diet Quality = +4.3 Score Points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96112" y="2779776"/>
            <a:ext cx="3364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diet avg: 85.3 · Average: 83.3 · Poor: 81.0 — Simple lifestyle factor with measurable impact.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08576" y="2377440"/>
            <a:ext cx="4169664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08576" y="2377440"/>
            <a:ext cx="64008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18304" y="2633472"/>
            <a:ext cx="493776" cy="493776"/>
          </a:xfrm>
          <a:prstGeom prst="ellipse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18304" y="26334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📝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5303520" y="2468880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Tutoring Sessions Have Clear Impact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03520" y="2779776"/>
            <a:ext cx="3364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sessions: 81.2 avg · 1 session: 82.8 · 3 sessions: 84.9 — Each weekly session ≈ +1.8 points.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8046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7315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47472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domain-knowledge features created to enhance predictive power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1005840"/>
            <a:ext cx="8741664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005840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52144"/>
            <a:ext cx="1874520" cy="256032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5214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Study_Efficiency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092440" y="1152144"/>
            <a:ext cx="749808" cy="256032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11521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r=+0.561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304288" y="106984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Hours_Studied × (Attendance / 100)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04288" y="136245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Effective study time weighted by attendance — better than raw hours alone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01168" y="1792224"/>
            <a:ext cx="8741664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1168" y="1792224"/>
            <a:ext cx="64008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1938528"/>
            <a:ext cx="1874520" cy="256032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93852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Academic_Risk_Index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92440" y="1938528"/>
            <a:ext cx="749808" cy="256032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193852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r=−0.448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304288" y="185623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(Stress + Anxiety + Screen_Time) / 3 − Previous_GPA ×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04288" y="214884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Single at-risk score for early counseling intervention flags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01168" y="2578608"/>
            <a:ext cx="8741664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01168" y="2578608"/>
            <a:ext cx="64008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724912"/>
            <a:ext cx="1874520" cy="256032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72491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Engagement_Index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92440" y="2724912"/>
            <a:ext cx="749808" cy="256032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92440" y="272491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r=+0.488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304288" y="2642616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Attendance×0.4 + Tutoring×10 + Extracurricular×8 + Hours×3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304288" y="293522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Holistic measure of academic engagement level and commitment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01168" y="3364992"/>
            <a:ext cx="8741664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1168" y="3364992"/>
            <a:ext cx="64008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3511296"/>
            <a:ext cx="1874520" cy="256032"/>
          </a:xfrm>
          <a:prstGeom prst="rect">
            <a:avLst/>
          </a:prstGeom>
          <a:solidFill>
            <a:srgbClr val="6366F1">
              <a:alpha val="8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51129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Wellness_Score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092440" y="3511296"/>
            <a:ext cx="749808" cy="256032"/>
          </a:xfrm>
          <a:prstGeom prst="rect">
            <a:avLst/>
          </a:prstGeom>
          <a:solidFill>
            <a:srgbClr val="6366F1">
              <a:alpha val="8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92440" y="351129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r=+0.378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304288" y="342900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Sleep×10 − Stress×5 − Exam_Anxiety×3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304288" y="372160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Physical and mental health composite — captures lifestyle wellness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01168" y="4151376"/>
            <a:ext cx="8741664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01168" y="4151376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4297680"/>
            <a:ext cx="1874520" cy="256032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2976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Learning_Efficiency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092440" y="4297680"/>
            <a:ext cx="749808" cy="256032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92440" y="42976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r=+0.536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304288" y="421538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Previous_GPA × Hours_Studied / (1 + Screen_Time)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304288" y="450799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Quality-adjusted study — GPA-weighted, penalized by digital distraction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8046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7315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47472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Information + XGBoost Importance — 12 consistent top features selected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01168" y="960120"/>
          <a:ext cx="57607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144768" y="960120"/>
            <a:ext cx="2798064" cy="39319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36208" y="1024128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12 Final Features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36208" y="1444752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across both methods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199632" y="1737360"/>
            <a:ext cx="2670048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Hours_Studied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Exam_Anxiety_Score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Stress_Level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Study_Efficiency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Learning_Efficiency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Previous_GPA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Engagement_Index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Attendance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Wellness_Score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Screen_Time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Sleep_Hours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Tutoring_Sessions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8046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7315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Models — Grade Prediction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47472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Grade ∈ {A, B, C, D, Fail} · 5-class · Weighted F1 Metric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1005840"/>
            <a:ext cx="2761488" cy="3858768"/>
          </a:xfrm>
          <a:prstGeom prst="rect">
            <a:avLst/>
          </a:prstGeom>
          <a:solidFill>
            <a:srgbClr val="FFFFFF"/>
          </a:solidFill>
          <a:ln w="254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005840"/>
            <a:ext cx="2761488" cy="5120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051560"/>
            <a:ext cx="2761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Logistic Regression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609344"/>
            <a:ext cx="1755648" cy="237744"/>
          </a:xfrm>
          <a:prstGeom prst="rect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Linear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2608" y="1938528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class probabilities via softmax. Fast and interpretable. Provides a lower bound for comparison.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92608" y="265176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Advantages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" y="2926080"/>
            <a:ext cx="25786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coefficients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train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hyperparameter tuning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2608" y="378561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Limitations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2608" y="4059936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capture non-linearity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feature independence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45536" y="1005840"/>
            <a:ext cx="2761488" cy="3858768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45536" y="1005840"/>
            <a:ext cx="2761488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45536" y="1051560"/>
            <a:ext cx="2761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 Random Forest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48456" y="1609344"/>
            <a:ext cx="1755648" cy="237744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48456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— Bagging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36976" y="1938528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Bootstrap-aggregated ensemble of 200 decision trees. Majority vote for final classification.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36976" y="265176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Advantages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36976" y="2926080"/>
            <a:ext cx="25786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non-linearity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feature importance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noise/outliers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36976" y="378561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Limitations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36976" y="4059936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interpretable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memory usage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89904" y="1005840"/>
            <a:ext cx="2761488" cy="3858768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9904" y="1005840"/>
            <a:ext cx="2761488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9904" y="1051560"/>
            <a:ext cx="2761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XGBoost Classifier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92824" y="1609344"/>
            <a:ext cx="1755648" cy="237744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92824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181344" y="1938528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boosting: each tree corrects residuals of prior trees. L1/L2 regularization built-in.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81344" y="265176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Advantages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81344" y="2926080"/>
            <a:ext cx="25786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on tabular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regularization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class imbalance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81344" y="378561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Limitations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81344" y="4059936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hyperparameters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careful tuning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8046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7315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Results — Real Performance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47472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on 1,600 test students (20% holdout, stratified split)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01168" y="960120"/>
          <a:ext cx="5486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870448" y="960120"/>
            <a:ext cx="3072384" cy="38404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61888" y="1051560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Best Model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53328" y="1508760"/>
            <a:ext cx="2706624" cy="6217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1508760"/>
            <a:ext cx="27066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Logistic Regression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53328" y="2286000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98080" y="228600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76.7%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053328" y="2798064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0" y="2798064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76.0%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053328" y="3310128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0" y="331012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76.7%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053328" y="3822192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498080" y="3822192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76.2%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961888" y="4352544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LR leads due to the structured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patterns in this dataset.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boundaries align well with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decision boundaries.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8046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7315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Models — Final Score Prediction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47472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Final_Score (continuous 22.81–99.98) · Mean: 83.21 · Std: 12.76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1005840"/>
            <a:ext cx="2761488" cy="3858768"/>
          </a:xfrm>
          <a:prstGeom prst="rect">
            <a:avLst/>
          </a:prstGeom>
          <a:solidFill>
            <a:srgbClr val="FFFFFF"/>
          </a:solidFill>
          <a:ln w="254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005840"/>
            <a:ext cx="2761488" cy="5120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051560"/>
            <a:ext cx="2761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Linear Regression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609344"/>
            <a:ext cx="1755648" cy="237744"/>
          </a:xfrm>
          <a:prstGeom prst="rect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Linear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2608" y="1938528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Minimizes sum of squared residuals. Fits a hyperplane through the feature space. Coefficients are interpretable.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92608" y="265176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Advantages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" y="2926080"/>
            <a:ext cx="25786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interpretable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hyperparameters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training &amp; inference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2608" y="378561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Limitations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2608" y="4059936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model non-linearity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outliers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Gaussian errors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45536" y="1005840"/>
            <a:ext cx="2761488" cy="3858768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45536" y="1005840"/>
            <a:ext cx="2761488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45536" y="1051560"/>
            <a:ext cx="2761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Random Forest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48456" y="1609344"/>
            <a:ext cx="1755648" cy="237744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48456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— Bagging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36976" y="1938528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predictions from 200 trees on bootstrap samples. Reduces variance via ensemble averaging.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36976" y="265176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Advantages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36976" y="2926080"/>
            <a:ext cx="25786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non-linearity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feature interactions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variance via averaging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36976" y="378561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Limitations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36976" y="4059936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inference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memory footprint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89904" y="1005840"/>
            <a:ext cx="2761488" cy="3858768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9904" y="1005840"/>
            <a:ext cx="2761488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9904" y="1051560"/>
            <a:ext cx="2761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XGBoost Regressor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92824" y="1609344"/>
            <a:ext cx="1755648" cy="237744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92824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181344" y="1938528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Minimizes MSE loss sequentially. Each tree fits residuals of the prior ensemble with L1/L2 regularization.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81344" y="265176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Advantages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81344" y="2926080"/>
            <a:ext cx="25786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accuracy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regularization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missing values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81344" y="378561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Limitations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81344" y="4059936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hyperparameters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overfitting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8046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7315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Results — Real Performance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47472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performance (1,600 students holdout) — lower MAE/RMSE + higher R² = better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01168" y="960120"/>
          <a:ext cx="521208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201168" y="2999232"/>
          <a:ext cx="5212080" cy="18836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577840" y="960120"/>
            <a:ext cx="3364992" cy="392277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669280" y="104241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Best Regressor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760720" y="1499616"/>
            <a:ext cx="2999232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760720" y="1499616"/>
            <a:ext cx="2999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XGBoost Regressor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760720" y="2286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132320" y="228600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0.742 (74.2%)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760720" y="28346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132320" y="283464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5.09 pts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760720" y="3383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132320" y="338328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6.52 pts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760720" y="3931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7132320" y="393192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42.55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669280" y="442569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explains 74.2% of variance.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prediction error = 5.09 points.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is competitive on this dataset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 strong linear relationships.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8046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7315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47472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with 5-fold cross-validation on RF &amp; XGBoost (both tasks)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987552"/>
            <a:ext cx="8741664" cy="47548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005840"/>
            <a:ext cx="8558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GridSearchCV: Exhaustively tries all parameter combinations, evaluating each with 5-fold CV to prevent test set contamination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1554480"/>
          <a:ext cx="8741664" cy="3383280"/>
        </p:xfrm>
        <a:graphic>
          <a:graphicData uri="http://schemas.openxmlformats.org/drawingml/2006/table">
            <a:tbl>
              <a:tblPr/>
              <a:tblGrid>
                <a:gridCol w="1248809"/>
                <a:gridCol w="1248809"/>
                <a:gridCol w="1248809"/>
                <a:gridCol w="1248809"/>
                <a:gridCol w="1248809"/>
                <a:gridCol w="1248809"/>
                <a:gridCol w="1248809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Range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Before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After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Gain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Classifier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[100,200,300]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F1: 0.7349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F1: 0.7368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Classifier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[None,10,20,30]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Classifier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min_samples_split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[2,5]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 Classifier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[100,200,300]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F1: 0.7460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F1: 0.7481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 Classifier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learning_rate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[0.05,0.1,0.2]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 Classifier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[4,6,8]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Regressor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[100,200,300]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R²: 0.7346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R²: 0.7358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 Regressor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learning_rate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[0.05,0.1,0.2]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R²: 0.7420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R²: 0.7435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 Regressor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[4,6,8]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8046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7315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 &amp; Generalization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47472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models generalize — not just memorize training data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1024128"/>
            <a:ext cx="4206240" cy="1719072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024128"/>
            <a:ext cx="42062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" y="1225296"/>
            <a:ext cx="621792" cy="621792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122529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📈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42416" y="118872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42416" y="1554480"/>
            <a:ext cx="3236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train score, low test score. Model memorizes training noise. Detected via large train−test gap. Fix: regularization, pruning.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81728" y="1024128"/>
            <a:ext cx="4206240" cy="1719072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81728" y="1024128"/>
            <a:ext cx="42062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9744" y="1225296"/>
            <a:ext cx="621792" cy="621792"/>
          </a:xfrm>
          <a:prstGeom prst="ellipse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122529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📉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522976" y="118872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22976" y="1554480"/>
            <a:ext cx="3236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scores on both sets. Model is too simple. Fix: add features, use more complex model, reduce regularization.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01168" y="3017520"/>
            <a:ext cx="4206240" cy="1719072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3017520"/>
            <a:ext cx="42062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" y="3218688"/>
            <a:ext cx="621792" cy="621792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" y="32186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✅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042416" y="3182112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42416" y="3547872"/>
            <a:ext cx="3236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performance on train and test. Small gap (&lt; 3%). Models generalize when the gap is low — our goal.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81728" y="3017520"/>
            <a:ext cx="4206240" cy="1719072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81728" y="3017520"/>
            <a:ext cx="4206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9744" y="3218688"/>
            <a:ext cx="621792" cy="621792"/>
          </a:xfrm>
          <a:prstGeom prst="ellipse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32186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🔁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5522976" y="3182112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22976" y="3547872"/>
            <a:ext cx="3236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data into 5 folds, trains on 4, tests on 1, rotates. Produces stable mean ± std — far more reliable than single split.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01168" y="4828032"/>
            <a:ext cx="8741664" cy="21945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" y="4837176"/>
            <a:ext cx="8558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Results (5-fold F1):  LR: 0.762 ± 0.008  |  RF: 0.734 ± 0.009  |  XGB: 0.745 ± 0.007  →  Low variance = good generalization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8046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7315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Comparison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47472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evaluation — all 6 models on real test data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01168" y="9144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Classification — Grade Prediction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1261872"/>
          <a:ext cx="4434840" cy="1481328"/>
        </p:xfrm>
        <a:graphic>
          <a:graphicData uri="http://schemas.openxmlformats.org/drawingml/2006/table">
            <a:tbl>
              <a:tblPr/>
              <a:tblGrid>
                <a:gridCol w="1108710"/>
                <a:gridCol w="1108710"/>
                <a:gridCol w="1108710"/>
                <a:gridCol w="110871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📐 Logistic Reg (Best)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01168" y="288036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Regression — Final Score Prediction</a:t>
            </a:r>
            <a:endParaRPr lang="en-US" sz="12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3236976"/>
          <a:ext cx="4434840" cy="1481328"/>
        </p:xfrm>
        <a:graphic>
          <a:graphicData uri="http://schemas.openxmlformats.org/drawingml/2006/table">
            <a:tbl>
              <a:tblPr/>
              <a:tblGrid>
                <a:gridCol w="1108710"/>
                <a:gridCol w="1108710"/>
                <a:gridCol w="1108710"/>
                <a:gridCol w="110871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🚀 XGBoost (Best)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846320" y="914400"/>
            <a:ext cx="4096512" cy="380390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956048" y="98755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Final Verdict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029200" y="1508760"/>
            <a:ext cx="3730752" cy="1417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029200" y="1581912"/>
            <a:ext cx="3730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Classification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029200" y="1938528"/>
            <a:ext cx="3730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5029200" y="241401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76.2%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29200" y="3200400"/>
            <a:ext cx="37307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029200" y="3273552"/>
            <a:ext cx="3730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Regression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029200" y="3630168"/>
            <a:ext cx="3730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Regressor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5029200" y="410565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74.2%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956048" y="4626864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tasks, different winners.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structure favors LR for classification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XGBoost for continuous prediction.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8046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7315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Dashboard — streamlit_eda_app.py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47472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Business-facing analytics for non-technical stakeholders — 8,000 real students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969264"/>
            <a:ext cx="3200400" cy="395020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2608" y="104241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Features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" y="1481328"/>
            <a:ext cx="301752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Grade &amp; Score distribution charts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🎛️  Filters: Grade, Gender, Study Method, Diet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Feature vs Final Score scatter plots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Full 9×9 correlation heatmap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Demographic analysis (4 charts)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Hours Studied &amp; Anxiety impact analysis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6 key business insight cards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Raw data table (color-coded)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6 KPI metric cards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566160" y="969264"/>
            <a:ext cx="5376672" cy="3950208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969264"/>
            <a:ext cx="5376672" cy="47548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987552"/>
            <a:ext cx="5285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Student Performance Analytics Dashboard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39312" y="1536192"/>
            <a:ext cx="804672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9312" y="1572768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39312" y="190195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498848" y="1536192"/>
            <a:ext cx="804672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8848" y="1572768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79.9%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98848" y="190195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358384" y="1536192"/>
            <a:ext cx="804672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58384" y="1572768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2.99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58384" y="190195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GPA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217920" y="1536192"/>
            <a:ext cx="804672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572768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190195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Score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077456" y="1536192"/>
            <a:ext cx="804672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77456" y="1572768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4.98h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77456" y="190195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Study/Wk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936992" y="1536192"/>
            <a:ext cx="804672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36992" y="1572768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55.9%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36992" y="190195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639312" y="2267712"/>
            <a:ext cx="2468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39312" y="2267712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Grade Distribution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A:4475  B:2212  C:1053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D:226  Fail:34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36208" y="2267712"/>
            <a:ext cx="26334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36208" y="2267712"/>
            <a:ext cx="26334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Correlation Heatmap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Hours_Studied r=+0.591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Exam_Anxiety r=−0.495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39312" y="3767328"/>
            <a:ext cx="5230368" cy="804672"/>
          </a:xfrm>
          <a:prstGeom prst="rect">
            <a:avLst/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39312" y="3767328"/>
            <a:ext cx="5230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Insights: Hours Studied r=+0.591 · Exam Anxiety r=−0.495 · Stress r=−0.297 · Good Diet +4.3 pts · Tutoring +1.8 pts/session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01168" y="4864608"/>
            <a:ext cx="8741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streamlit run streamlit_eda_app.py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8046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7315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 App — streamlit_ml_app.py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47472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XGBoost predictions for Grade &amp; Final Score with profile analysis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969264"/>
            <a:ext cx="3200400" cy="395020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2608" y="104241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Features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" y="1481328"/>
            <a:ext cx="301752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🎛️  Sliders for all 17 input features</a:t>
            </a: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Live Grade + Score predictions</a:t>
            </a: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Score gauge (Fail→A visual)</a:t>
            </a: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  Strengths &amp; improvement tips</a:t>
            </a: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5 engineered metric cards</a:t>
            </a: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Profile vs class average chart</a:t>
            </a: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XGBoost (R²=0.742, MAE=5.09)</a:t>
            </a: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Model performance summary table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66160" y="969264"/>
            <a:ext cx="5376672" cy="3950208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969264"/>
            <a:ext cx="5376672" cy="47548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987552"/>
            <a:ext cx="5285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Student Performance Predictor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0" y="1536192"/>
            <a:ext cx="2331720" cy="1261872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59105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Predicted Grade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0" y="182880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A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657600" y="24231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08192" y="1536192"/>
            <a:ext cx="2761488" cy="1261872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08192" y="1591056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Predicted Score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08192" y="1828800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08192" y="2423160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100 points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0" y="2889504"/>
            <a:ext cx="5230368" cy="877824"/>
          </a:xfrm>
          <a:prstGeom prst="rect">
            <a:avLst/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2926080"/>
            <a:ext cx="5047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 Strengths: Strong study hrs (8.5/wk) · Good attendance (88%) · High GPA (3.5)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Improve: Reduce exam anxiety (6.2→4) · Limit screen time (5.5→4 hrs)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0" y="3858768"/>
            <a:ext cx="52303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3858768"/>
            <a:ext cx="5230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Your Profile vs Class Average: Study +71% | Attendance +10% | GPA +17% | Anxiety -28%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01168" y="4864608"/>
            <a:ext cx="8741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streamlit run streamlit_ml_app.py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8046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7315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47472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achievements and roadmap for improvement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969264"/>
            <a:ext cx="4160520" cy="3950208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969264"/>
            <a:ext cx="41605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00584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Project Summary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" y="1536192"/>
            <a:ext cx="397764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8,000 real students × 19 features analyzed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0 missing values — clean dataset confirmed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5 meaningful features engineered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Best Classification: Logistic Reg — F1=76.2%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Best Regression: XGBoost — R²=74.2%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GridSearchCV tuning on 4 models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📓  48-cell EDA + 47-cell ML notebooks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2 Streamlit apps with real model inference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GitHub-ready repo + 20-slide presentation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53712" y="969264"/>
            <a:ext cx="4389120" cy="3950208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3712" y="969264"/>
            <a:ext cx="438912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100584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Future Improvements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45152" y="1536192"/>
            <a:ext cx="420624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Neural Network (MLP) comparison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SHAP explainability per prediction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Multi-semester time-series analysis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Deploy to Streamlit Cloud / HF Spaces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Mobile-first educator interface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Real-time student data ingestion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A/B test suggested interventions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Multi-school generalization study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Address grade class imbalance (SMOTE)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5F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-822960"/>
            <a:ext cx="2926080" cy="292608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3291840"/>
            <a:ext cx="2377440" cy="2377440"/>
          </a:xfrm>
          <a:prstGeom prst="ellipse">
            <a:avLst/>
          </a:prstGeom>
          <a:solidFill>
            <a:srgbClr val="14B8A6">
              <a:alpha val="22000"/>
            </a:srgbClr>
          </a:solidFill>
          <a:ln w="12700">
            <a:solidFill>
              <a:srgbClr val="14B8A6">
                <a:alpha val="2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858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3108960" y="1783080"/>
            <a:ext cx="29260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633472"/>
            <a:ext cx="1920240" cy="1005840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883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9992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 students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features · 0 missing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42032" y="2633472"/>
            <a:ext cx="1920240" cy="1005840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26883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42032" y="29992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Logistic Reg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76.2%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26864" y="2633472"/>
            <a:ext cx="1920240" cy="1005840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26883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26864" y="29992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XGBoost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74.2%  MAE = 5.09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11696" y="2633472"/>
            <a:ext cx="1920240" cy="1005840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11696" y="26883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11696" y="29992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Streamlit apps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+ Predictor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767328"/>
            <a:ext cx="8229600" cy="621792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22192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Predictors:  Hours_Studied r=+0.591  ·  Exam_Anxiety r=−0.495  ·  Stress_Level r=−0.297  ·  Previous_GPA r=+0.291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Epsilon AI Machine Learning Program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477316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github.com/epsilon-ai  ·  student_performance_grade.csv  ·  8,000 real student records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Performance ML Project</dc:title>
  <dc:subject>PptxGenJS Presentation</dc:subject>
  <dc:creator>Epsilon AI ML Program</dc:creator>
  <cp:lastModifiedBy>Epsilon AI ML Program</cp:lastModifiedBy>
  <cp:revision>1</cp:revision>
  <dcterms:created xsi:type="dcterms:W3CDTF">2026-06-01T07:18:46Z</dcterms:created>
  <dcterms:modified xsi:type="dcterms:W3CDTF">2026-06-01T07:18:46Z</dcterms:modified>
</cp:coreProperties>
</file>